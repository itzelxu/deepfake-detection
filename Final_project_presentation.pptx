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MesoNet: a Compact Facial Video Forgery Detection Network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fa9aae553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fa9aae553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2018 MesoNet: a Compact Facial Video Forgery Detection Network</a:t>
            </a:r>
            <a:endParaRPr sz="1800"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paper addresses the problem of detecting two video editing processes: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fa9aae5536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fa9aae5536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dc0d54b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dc0d54b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Extraction: isolating faces from video frames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Alignment: key facial landmarks (e.g., eyes, nose, mouth) are in a standard position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generates a separate prediction for each frame, make use temporal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Idea:model to learn features at multiple scales;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capturing a more diverse set of features,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enhancing its robustness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c0d54b2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c0d54b2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Dilated convolutions: learn more detailed and fine-grained features before combining them into higher-level semantic information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Concatenation: Improve </a:t>
            </a:r>
            <a:r>
              <a:rPr lang="en">
                <a:solidFill>
                  <a:schemeClr val="dk1"/>
                </a:solidFill>
              </a:rPr>
              <a:t>robustness; </a:t>
            </a:r>
            <a:r>
              <a:rPr lang="en"/>
              <a:t>Multi-Scale Feature Learning, Richer Representations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be28712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be28712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a9aae553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a9aae553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fa9aae5536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fa9aae553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improve MesoNet’s performance and robustness for video forgery detection: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 Increased Dropout Layers: Apply varying dropout rates (0.3–0.5) throughout the network, especially in denser layers, to prevent overfitting without impacting inference time significantly.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 Multi-Scale Pooling: Use a combination of max and average pooling to capture diverse features and potentially improve detection of nuanced artifacts.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 Batch and Layer Normalization: Adding layer normalization alongside batch normalization in deeper layers may stabilize training across different video compressions.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 Densified Convolution Blocks: Use densified connections in initial layers to enhance feature reuse without increasing the parameter count drastically, potentially improving generalization.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</a:t>
            </a:r>
            <a:r>
              <a:rPr lang="en">
                <a:solidFill>
                  <a:schemeClr val="dk1"/>
                </a:solidFill>
              </a:rPr>
              <a:t>. Residual connections: Adding residual connections to capture more complex and temporal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r>
              <a:rPr lang="en"/>
              <a:t>. Attention Mechanisms: Introduce attention modules within the architecture to focus on facial regions more prone to distortions in forged videos, like the eyes and mouth.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a9aae553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a9aae553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f1c91d2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f1c91d2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Study: MesoNet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Darius Afchar, Vincent Nozick, Junichi Yamagishi, and Isao Echizen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Team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549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No good</a:t>
            </a:r>
            <a:r>
              <a:rPr lang="en" sz="1700"/>
              <a:t> digital video falsification detection tools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Most image forgery detection cannot be applied </a:t>
            </a:r>
            <a:r>
              <a:rPr lang="en" sz="1700"/>
              <a:t>directly</a:t>
            </a:r>
            <a:r>
              <a:rPr lang="en" sz="1700"/>
              <a:t> to videos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Deepfakes: Using deep learning for face capture and </a:t>
            </a:r>
            <a:r>
              <a:rPr lang="en" sz="1700"/>
              <a:t>reenactment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Face2Face: Non-deep learning method to transfer image facial expression from a source to a target person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MesoNet: a Compact Facial Video Forgery Detection Network</a:t>
            </a:r>
            <a:endParaRPr sz="1700"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7250" y="1651650"/>
            <a:ext cx="3013900" cy="184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5802775" y="3612225"/>
            <a:ext cx="3247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Figure 1.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Example of an image (left) being forged (right) using the Deepfake technique.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I (Meso-4)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layers of successive convolutions and pooling + dense network with one hidden layer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ReLU activation function for each convolution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Batch normalization </a:t>
            </a:r>
            <a:r>
              <a:rPr lang="en"/>
              <a:t>regularizes</a:t>
            </a:r>
            <a:r>
              <a:rPr lang="en"/>
              <a:t> data + prevents vanishing gradient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connected layers use Dropout for robustness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27,977 trainable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</a:t>
            </a:r>
            <a:r>
              <a:rPr lang="en"/>
              <a:t>esults: 96.9% for Deepfake model, </a:t>
            </a:r>
            <a:r>
              <a:rPr lang="en"/>
              <a:t>95.3% for </a:t>
            </a:r>
            <a:r>
              <a:rPr lang="en"/>
              <a:t>Face2Face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I (Meso-4) - Architecture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5191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Preprocessing: f</a:t>
            </a:r>
            <a:r>
              <a:rPr lang="en"/>
              <a:t>ace extraction and alignment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Training: frame detection with NN model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Prediction: aggregation over time</a:t>
            </a:r>
            <a:endParaRPr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0891" y="521225"/>
            <a:ext cx="3150232" cy="3982473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5332263" y="4492675"/>
            <a:ext cx="3247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Figure 2.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Meso-4 network architecture.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573650" y="2639600"/>
            <a:ext cx="2304076" cy="1816275"/>
            <a:chOff x="573650" y="2487200"/>
            <a:chExt cx="2304076" cy="1816275"/>
          </a:xfrm>
        </p:grpSpPr>
        <p:pic>
          <p:nvPicPr>
            <p:cNvPr id="84" name="Google Shape;84;p1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3650" y="2487200"/>
              <a:ext cx="2304076" cy="15287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6"/>
            <p:cNvSpPr txBox="1"/>
            <p:nvPr/>
          </p:nvSpPr>
          <p:spPr>
            <a:xfrm>
              <a:off x="652625" y="4004975"/>
              <a:ext cx="21489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Figure 3. Face alignment</a:t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</p:grpSp>
      <p:grpSp>
        <p:nvGrpSpPr>
          <p:cNvPr id="86" name="Google Shape;86;p16"/>
          <p:cNvGrpSpPr/>
          <p:nvPr/>
        </p:nvGrpSpPr>
        <p:grpSpPr>
          <a:xfrm>
            <a:off x="2734725" y="2359575"/>
            <a:ext cx="2597700" cy="2445525"/>
            <a:chOff x="2734725" y="2207175"/>
            <a:chExt cx="2597700" cy="2445525"/>
          </a:xfrm>
        </p:grpSpPr>
        <p:pic>
          <p:nvPicPr>
            <p:cNvPr id="87" name="Google Shape;87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24123" y="2258600"/>
              <a:ext cx="734577" cy="7364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24125" y="2995050"/>
              <a:ext cx="734575" cy="73835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26150" y="3648875"/>
              <a:ext cx="734575" cy="7140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6"/>
            <p:cNvSpPr txBox="1"/>
            <p:nvPr/>
          </p:nvSpPr>
          <p:spPr>
            <a:xfrm>
              <a:off x="3595437" y="2207175"/>
              <a:ext cx="524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False</a:t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sp>
          <p:nvSpPr>
            <p:cNvPr id="91" name="Google Shape;91;p16"/>
            <p:cNvSpPr txBox="1"/>
            <p:nvPr/>
          </p:nvSpPr>
          <p:spPr>
            <a:xfrm>
              <a:off x="3609387" y="2928013"/>
              <a:ext cx="524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True</a:t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3609387" y="3601563"/>
              <a:ext cx="524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True</a:t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sp>
          <p:nvSpPr>
            <p:cNvPr id="93" name="Google Shape;93;p16"/>
            <p:cNvSpPr txBox="1"/>
            <p:nvPr/>
          </p:nvSpPr>
          <p:spPr>
            <a:xfrm>
              <a:off x="4780012" y="3201800"/>
              <a:ext cx="524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True</a:t>
              </a:r>
              <a:endParaRPr b="1" sz="12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sp>
          <p:nvSpPr>
            <p:cNvPr id="94" name="Google Shape;94;p16"/>
            <p:cNvSpPr txBox="1"/>
            <p:nvPr/>
          </p:nvSpPr>
          <p:spPr>
            <a:xfrm>
              <a:off x="2734725" y="4354200"/>
              <a:ext cx="2597700" cy="29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accent3"/>
                  </a:solidFill>
                  <a:latin typeface="Average"/>
                  <a:ea typeface="Average"/>
                  <a:cs typeface="Average"/>
                  <a:sym typeface="Average"/>
                </a:rPr>
                <a:t>Figure 4. Prediction aggregation</a:t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4301850" y="3148250"/>
              <a:ext cx="387900" cy="405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Average"/>
                <a:ea typeface="Average"/>
                <a:cs typeface="Average"/>
                <a:sym typeface="Average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 II (MesoInception-4)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152475"/>
            <a:ext cx="478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1x1 convolutions for dimension reduction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</a:t>
            </a:r>
            <a:r>
              <a:rPr lang="en"/>
              <a:t>ilated convolutions avoid high semantic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Concatenation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28,615 trainable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Results: 98.4% for Deepfake model, 95.3% for Face2Face</a:t>
            </a:r>
            <a:endParaRPr/>
          </a:p>
        </p:txBody>
      </p:sp>
      <p:pic>
        <p:nvPicPr>
          <p:cNvPr id="102" name="Google Shape;10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4715" y="1159625"/>
            <a:ext cx="3637584" cy="3267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5389750" y="4568875"/>
            <a:ext cx="32475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Figure 5.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MesoInception-4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network architecture.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311700" y="1152475"/>
            <a:ext cx="3850500" cy="14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Both Meso-4 and MesoInception-4 reached scores around 90% when considering frames independently</a:t>
            </a:r>
            <a:endParaRPr sz="1700"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50" y="2552100"/>
            <a:ext cx="3260475" cy="8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707388" y="4343350"/>
            <a:ext cx="3467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Table 1, 2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Classification scores for each frame independently.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852" y="3452888"/>
            <a:ext cx="3260475" cy="79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6263" y="2617437"/>
            <a:ext cx="2929525" cy="79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55425" y="3931750"/>
            <a:ext cx="3571226" cy="6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897925" y="1107925"/>
            <a:ext cx="3886200" cy="14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Image aggregation significantly improved detection rates for both networks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Image aggregation with only intra-frames performed worse</a:t>
            </a:r>
            <a:endParaRPr sz="1500"/>
          </a:p>
        </p:txBody>
      </p:sp>
      <p:sp>
        <p:nvSpPr>
          <p:cNvPr id="116" name="Google Shape;116;p18"/>
          <p:cNvSpPr txBox="1"/>
          <p:nvPr/>
        </p:nvSpPr>
        <p:spPr>
          <a:xfrm>
            <a:off x="5107325" y="4565650"/>
            <a:ext cx="34674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Table 4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 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Classification score variation on the Deepfake dataset using only I-frames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.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4874525" y="3391100"/>
            <a:ext cx="39330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Table 3. C</a:t>
            </a: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lassification scores using image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aggregation (Face2Face dataset compressed at rate 23)</a:t>
            </a:r>
            <a:endParaRPr sz="1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MesoNet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311700" y="1017725"/>
            <a:ext cx="5750700" cy="37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Strengths: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 detection rate: 98% success for Deepfake videos and 95% for Face2Face videos.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Lightweight 4-layer structure, quick response, real-time applications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Low computational cost and fast training compared to other </a:t>
            </a:r>
            <a:r>
              <a:rPr lang="en" sz="1400"/>
              <a:t>deepfake detection models.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Weaknesses: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Cannot handle temporal patterns.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Training should have included multiple datasets to prevent overfitting.</a:t>
            </a:r>
            <a:endParaRPr sz="1400"/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 blurriness of the image data impacted the model's performance, causing it to prioritize features like eyes and </a:t>
            </a:r>
            <a:r>
              <a:rPr lang="en" sz="1400"/>
              <a:t>noses,</a:t>
            </a:r>
            <a:r>
              <a:rPr lang="en" sz="1400"/>
              <a:t> which were clearer (Fig. </a:t>
            </a:r>
            <a:r>
              <a:rPr lang="en" sz="1400"/>
              <a:t>8),</a:t>
            </a:r>
            <a:r>
              <a:rPr lang="en" sz="1400"/>
              <a:t> when making decisions. This could have had a significant impact on the outcomes, which we can work to address in our project. </a:t>
            </a:r>
            <a:endParaRPr sz="1400"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1281" r="2380" t="0"/>
          <a:stretch/>
        </p:blipFill>
        <p:spPr>
          <a:xfrm>
            <a:off x="6062400" y="819625"/>
            <a:ext cx="2913876" cy="154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/>
          <p:nvPr/>
        </p:nvSpPr>
        <p:spPr>
          <a:xfrm>
            <a:off x="5976275" y="240680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Figure 6. ROC curves of the evaluated classifiers on the </a:t>
            </a:r>
            <a:r>
              <a:rPr i="1"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Deepfake</a:t>
            </a: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dataset (a) and the </a:t>
            </a:r>
            <a:r>
              <a:rPr i="1"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Face2Face</a:t>
            </a: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dataset compressed at rate 23 (b).</a:t>
            </a:r>
            <a:endParaRPr sz="9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3474" y="3050506"/>
            <a:ext cx="2765599" cy="114439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6019338" y="423830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Figure 8. Mean outputs of the </a:t>
            </a:r>
            <a:r>
              <a:rPr i="1"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Deepfake</a:t>
            </a:r>
            <a:r>
              <a:rPr lang="en" sz="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dataset for the some filters of the last convolutional layer of MesoInception-4.</a:t>
            </a:r>
            <a:endParaRPr sz="9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Suggestions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</a:t>
            </a:r>
            <a:r>
              <a:rPr lang="en" sz="1900"/>
              <a:t>ossible adoption of techniques for the group's project:</a:t>
            </a:r>
            <a:endParaRPr sz="19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Create a neural network with architecture similar to MesoNet 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Improvements:</a:t>
            </a:r>
            <a:endParaRPr sz="19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Increased Dropout Layers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Multi-Scale Pooling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Densified Convolution Blocks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Increased Batch and Layer Normalization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Residual connections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Attention Mechanisms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[1] </a:t>
            </a:r>
            <a:r>
              <a:rPr lang="en"/>
              <a:t>M. R. K. Mofrad, Z. S. Safavian, and A. Rahmani, "A Survey on Unsupervised Feature Learning Using Mutual Information," arXiv preprint arXiv:1809.00888, Sep. 2018. [Online]. Available: https://arxiv.org/abs/1809.00888. [Accessed: Oct. 13, 2024]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/>
        </p:nvSpPr>
        <p:spPr>
          <a:xfrm>
            <a:off x="2333850" y="1971150"/>
            <a:ext cx="4476300" cy="1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THANK YOU!</a:t>
            </a:r>
            <a:endParaRPr sz="50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